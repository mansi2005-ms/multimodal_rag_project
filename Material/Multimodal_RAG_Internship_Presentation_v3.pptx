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a990721-7a16-a540-4459-e8d7a55a0f99}">
          <p14:sldIdLst>
            <p14:sldId id="256"/>
            <p14:sldId id="257"/>
          </p14:sldIdLst>
        </p14:section>
        <p14:section name="Concept" id="{352497a3-ca74-e616-6fed-bb883098bc8d}">
          <p14:sldIdLst>
            <p14:sldId id="258"/>
            <p14:sldId id="259"/>
          </p14:sldIdLst>
        </p14:section>
        <p14:section name="Implementation" id="{f2361a6b-046c-a2cf-a43e-81f00d70cdb2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Wrap-up" id="{7da6625a-4216-e5ec-11c8-c8fd7e1dc1ea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yourself: Mansi Suresh Shirode, volunteer at Gudsky Research Foundation, mentored by Abhishek Kumar Shukla. This talk explains one project, a Multimodal RAG chatbot, from scratch.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parts, from the simple idea to the code. No prior AI knowledge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a normal chatbot guesses. Right: the RAG approach answers from your own document. The example is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clear: the project covers the retrieval part of RAG. Adding a language model for step 3 is part of the future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simple: documents in, question in, relevant passages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embedding model is all-MiniLM-L6-v2. Every tool here is free and runs on a normal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A happens once. Step B repeats for every question. Both rely on the same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slide for newcomers. The map is a simplified 2D picture; real embeddings have 384 numbers per chunk.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chunk_size=500 and chunk_overlap=50 in RecursiveCharacterTextSplitter. HuggingFaceEmbeddings uses all-MiniLM-L6-v2. Chroma.from_documents saves to ./db.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query.py does the same for one fixed question. chat.py loops until you type exit. If the db folder is missing it asks you to run app.py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the module loads and validates an image. Searching inside images is the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commands reproduce the whole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mentor and the foundation.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Multimodal RAG Chatbot  |  Gudsky Research Foundation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Multimodal RAG Chatbot  |  Gudsky Research Foundation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ard"/>
          <p:cNvSpPr/>
          <p:nvPr/>
        </p:nvSpPr>
        <p:spPr>
          <a:xfrm>
            <a:off x="457200" y="365760"/>
            <a:ext cx="105156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Gudsky Research Foundation logo" descr="Gudsky Research Foundatio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429768"/>
            <a:ext cx="923544" cy="9235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737360" y="36576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GUDSKY RESEARCH FOUNDATION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Internship Program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55448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research-driven foundation offering hands-on internship and volunteer opportunities in technology and applied AI.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240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RAG Chatbot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834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Ask questions to your documents and get answers taken from them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MENTOR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9202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Abhishek Kumar Shukla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995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ROLE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920240" y="3995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Volunteer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379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PRESENTED BY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920240" y="43799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Mansi Suresh Shirode</a:t>
            </a:r>
            <a:endParaRPr lang="en-US" sz="1600" dirty="0"/>
          </a:p>
        </p:txBody>
      </p:sp>
      <p:sp>
        <p:nvSpPr>
          <p:cNvPr id="14" name="chip Your documents"/>
          <p:cNvSpPr/>
          <p:nvPr/>
        </p:nvSpPr>
        <p:spPr>
          <a:xfrm>
            <a:off x="6126480" y="1005840"/>
            <a:ext cx="25603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icon file bg"/>
          <p:cNvSpPr/>
          <p:nvPr/>
        </p:nvSpPr>
        <p:spPr>
          <a:xfrm>
            <a:off x="6309360" y="114300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6" name="icon file" descr="icon fi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781" y="1309421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32320" y="10058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Your documents</a:t>
            </a:r>
            <a:endParaRPr lang="en-US" sz="1600" dirty="0"/>
          </a:p>
        </p:txBody>
      </p:sp>
      <p:sp>
        <p:nvSpPr>
          <p:cNvPr id="18" name="chip Smart search index"/>
          <p:cNvSpPr/>
          <p:nvPr/>
        </p:nvSpPr>
        <p:spPr>
          <a:xfrm>
            <a:off x="6126480" y="2194560"/>
            <a:ext cx="25603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icon db bg"/>
          <p:cNvSpPr/>
          <p:nvPr/>
        </p:nvSpPr>
        <p:spPr>
          <a:xfrm>
            <a:off x="6309360" y="233172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0" name="icon db" descr="icon d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781" y="249814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132320" y="21945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Smart search index</a:t>
            </a:r>
            <a:endParaRPr lang="en-US" sz="1600" dirty="0"/>
          </a:p>
        </p:txBody>
      </p:sp>
      <p:sp>
        <p:nvSpPr>
          <p:cNvPr id="22" name="chip Relevant answers"/>
          <p:cNvSpPr/>
          <p:nvPr/>
        </p:nvSpPr>
        <p:spPr>
          <a:xfrm>
            <a:off x="6126480" y="3383280"/>
            <a:ext cx="256032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icon chat bg"/>
          <p:cNvSpPr/>
          <p:nvPr/>
        </p:nvSpPr>
        <p:spPr>
          <a:xfrm>
            <a:off x="6309360" y="3520440"/>
            <a:ext cx="640080" cy="6400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4" name="icon chat" descr="icon cha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781" y="3686861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132320" y="33832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Relevant answers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you will learn in this talk</a:t>
            </a:r>
            <a:endParaRPr lang="en-US" sz="3000" dirty="0"/>
          </a:p>
        </p:txBody>
      </p:sp>
      <p:sp>
        <p:nvSpPr>
          <p:cNvPr id="3" name="agenda 01"/>
          <p:cNvSpPr/>
          <p:nvPr/>
        </p:nvSpPr>
        <p:spPr>
          <a:xfrm>
            <a:off x="457200" y="123444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Why normal chatbots are not enough</a:t>
            </a:r>
            <a:endParaRPr lang="en-US" sz="1400" dirty="0"/>
          </a:p>
        </p:txBody>
      </p:sp>
      <p:sp>
        <p:nvSpPr>
          <p:cNvPr id="7" name="agenda 02"/>
          <p:cNvSpPr/>
          <p:nvPr/>
        </p:nvSpPr>
        <p:spPr>
          <a:xfrm>
            <a:off x="3246120" y="123444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idea (RAG)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Look it up first, then answer</a:t>
            </a:r>
            <a:endParaRPr lang="en-US" sz="1400" dirty="0"/>
          </a:p>
        </p:txBody>
      </p:sp>
      <p:sp>
        <p:nvSpPr>
          <p:cNvPr id="11" name="agenda 03"/>
          <p:cNvSpPr/>
          <p:nvPr/>
        </p:nvSpPr>
        <p:spPr>
          <a:xfrm>
            <a:off x="6035040" y="123444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371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big picture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Goals, tools and architecture</a:t>
            </a:r>
            <a:endParaRPr lang="en-US" sz="1400" dirty="0"/>
          </a:p>
        </p:txBody>
      </p:sp>
      <p:sp>
        <p:nvSpPr>
          <p:cNvPr id="15" name="agenda 04"/>
          <p:cNvSpPr/>
          <p:nvPr/>
        </p:nvSpPr>
        <p:spPr>
          <a:xfrm>
            <a:off x="457200" y="30175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Under the hood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977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Chunks, embeddings, vector DB</a:t>
            </a:r>
            <a:endParaRPr lang="en-US" sz="1400" dirty="0"/>
          </a:p>
        </p:txBody>
      </p:sp>
      <p:sp>
        <p:nvSpPr>
          <p:cNvPr id="19" name="agenda 05"/>
          <p:cNvSpPr/>
          <p:nvPr/>
        </p:nvSpPr>
        <p:spPr>
          <a:xfrm>
            <a:off x="3246120" y="30175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2900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code, step by step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977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Ingestion, chat and images</a:t>
            </a:r>
            <a:endParaRPr lang="en-US" sz="1400" dirty="0"/>
          </a:p>
        </p:txBody>
      </p:sp>
      <p:sp>
        <p:nvSpPr>
          <p:cNvPr id="23" name="agenda 06"/>
          <p:cNvSpPr/>
          <p:nvPr/>
        </p:nvSpPr>
        <p:spPr>
          <a:xfrm>
            <a:off x="6035040" y="30175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Run it and next steps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977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Commands, learnings, future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problem: chatbots can guess wrongly</a:t>
            </a:r>
            <a:endParaRPr lang="en-US" sz="3000" dirty="0"/>
          </a:p>
        </p:txBody>
      </p:sp>
      <p:sp>
        <p:nvSpPr>
          <p:cNvPr id="3" name="icon ban bg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rgbClr val="123B5C"/>
          </a:solidFill>
          <a:ln w="12700">
            <a:solidFill>
              <a:srgbClr val="123B5C"/>
            </a:solidFill>
            <a:prstDash val="solid"/>
          </a:ln>
        </p:spPr>
      </p:sp>
      <p:pic>
        <p:nvPicPr>
          <p:cNvPr id="4" name="icon ban" descr="icon b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377086"/>
            <a:ext cx="263347" cy="26334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1612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Makes things up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45389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Sounds sure, may be wrong</a:t>
            </a:r>
            <a:endParaRPr lang="en-US" sz="1400" dirty="0"/>
          </a:p>
        </p:txBody>
      </p:sp>
      <p:sp>
        <p:nvSpPr>
          <p:cNvPr id="7" name="icon clock bg"/>
          <p:cNvSpPr/>
          <p:nvPr/>
        </p:nvSpPr>
        <p:spPr>
          <a:xfrm>
            <a:off x="457200" y="2121408"/>
            <a:ext cx="548640" cy="548640"/>
          </a:xfrm>
          <a:prstGeom prst="ellipse">
            <a:avLst/>
          </a:prstGeom>
          <a:solidFill>
            <a:srgbClr val="123B5C"/>
          </a:solidFill>
          <a:ln w="12700">
            <a:solidFill>
              <a:srgbClr val="123B5C"/>
            </a:solidFill>
            <a:prstDash val="solid"/>
          </a:ln>
        </p:spPr>
      </p:sp>
      <p:pic>
        <p:nvPicPr>
          <p:cNvPr id="8" name="icon clock" descr="icon c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" y="2264054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048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Old knowledge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234086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knows its training time</a:t>
            </a:r>
            <a:endParaRPr lang="en-US" sz="1400" dirty="0"/>
          </a:p>
        </p:txBody>
      </p:sp>
      <p:sp>
        <p:nvSpPr>
          <p:cNvPr id="11" name="icon lock bg"/>
          <p:cNvSpPr/>
          <p:nvPr/>
        </p:nvSpPr>
        <p:spPr>
          <a:xfrm>
            <a:off x="457200" y="3008376"/>
            <a:ext cx="548640" cy="548640"/>
          </a:xfrm>
          <a:prstGeom prst="ellipse">
            <a:avLst/>
          </a:prstGeom>
          <a:solidFill>
            <a:srgbClr val="123B5C"/>
          </a:solidFill>
          <a:ln w="12700">
            <a:solidFill>
              <a:srgbClr val="123B5C"/>
            </a:solidFill>
            <a:prstDash val="solid"/>
          </a:ln>
        </p:spPr>
      </p:sp>
      <p:pic>
        <p:nvPicPr>
          <p:cNvPr id="12" name="icon lock" descr="icon 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3151022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935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Cannot see your files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32278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Your PDFs were never learned</a:t>
            </a:r>
            <a:endParaRPr lang="en-US" sz="1400" dirty="0"/>
          </a:p>
        </p:txBody>
      </p:sp>
      <p:sp>
        <p:nvSpPr>
          <p:cNvPr id="15" name="icon img bg"/>
          <p:cNvSpPr/>
          <p:nvPr/>
        </p:nvSpPr>
        <p:spPr>
          <a:xfrm>
            <a:off x="457200" y="3895344"/>
            <a:ext cx="548640" cy="548640"/>
          </a:xfrm>
          <a:prstGeom prst="ellipse">
            <a:avLst/>
          </a:prstGeom>
          <a:solidFill>
            <a:srgbClr val="123B5C"/>
          </a:solidFill>
          <a:ln w="12700">
            <a:solidFill>
              <a:srgbClr val="123B5C"/>
            </a:solidFill>
            <a:prstDash val="solid"/>
          </a:ln>
        </p:spPr>
      </p:sp>
      <p:pic>
        <p:nvPicPr>
          <p:cNvPr id="16" name="icon img" descr="icon im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" y="4037990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Often text only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188720" y="4114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Images are usually ignored</a:t>
            </a:r>
            <a:endParaRPr lang="en-US" sz="1400" dirty="0"/>
          </a:p>
        </p:txBody>
      </p:sp>
      <p:pic>
        <p:nvPicPr>
          <p:cNvPr id="19" name="Comparison: normal chatbot guesses, RAG chatbot answers from your document" descr="Comparison: normal chatbot guesses, RAG chatbot answers from your documen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1280160"/>
            <a:ext cx="5029200" cy="1964531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657600" y="3336131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Illustrative example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idea: RAG, an open-book exam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RAG = Retrieval-Augmented Generation. Instead of answering from memory, the system first finds the right pages in your documents.</a:t>
            </a:r>
            <a:endParaRPr lang="en-US" sz="1600" dirty="0"/>
          </a:p>
        </p:txBody>
      </p:sp>
      <p:sp>
        <p:nvSpPr>
          <p:cNvPr id="4" name="rag 1. Retrieve"/>
          <p:cNvSpPr/>
          <p:nvPr/>
        </p:nvSpPr>
        <p:spPr>
          <a:xfrm>
            <a:off x="457200" y="178308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search bg"/>
          <p:cNvSpPr/>
          <p:nvPr/>
        </p:nvSpPr>
        <p:spPr>
          <a:xfrm>
            <a:off x="685800" y="196596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6" name="icon search" descr="icon 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995" y="21561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Retrieve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46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the parts of your documents that match the question.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3035808" y="278892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rag 2. Augment"/>
          <p:cNvSpPr/>
          <p:nvPr/>
        </p:nvSpPr>
        <p:spPr>
          <a:xfrm>
            <a:off x="3291840" y="178308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 link bg"/>
          <p:cNvSpPr/>
          <p:nvPr/>
        </p:nvSpPr>
        <p:spPr>
          <a:xfrm>
            <a:off x="3520440" y="196596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2" name="icon link" descr="icon li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635" y="215615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204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Augment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3246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Give those parts to the answering step as context.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5870448" y="278892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rag 3. Generate"/>
          <p:cNvSpPr/>
          <p:nvPr/>
        </p:nvSpPr>
        <p:spPr>
          <a:xfrm>
            <a:off x="6126480" y="1783080"/>
            <a:ext cx="256032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 brain bg"/>
          <p:cNvSpPr/>
          <p:nvPr/>
        </p:nvSpPr>
        <p:spPr>
          <a:xfrm>
            <a:off x="6355080" y="1965960"/>
            <a:ext cx="731520" cy="7315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8" name="icon brain" descr="icon br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275" y="215615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550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Generate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3246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 the answer using only that context.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This project implements step 1, the Retrieve engine: it finds the best-matching passages from your documents.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project in one picture</a:t>
            </a:r>
            <a:endParaRPr lang="en-US" sz="3000" dirty="0"/>
          </a:p>
        </p:txBody>
      </p:sp>
      <p:sp>
        <p:nvSpPr>
          <p:cNvPr id="3" name="flow You give"/>
          <p:cNvSpPr/>
          <p:nvPr/>
        </p:nvSpPr>
        <p:spPr>
          <a:xfrm>
            <a:off x="457200" y="1188720"/>
            <a:ext cx="17373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file bg"/>
          <p:cNvSpPr/>
          <p:nvPr/>
        </p:nvSpPr>
        <p:spPr>
          <a:xfrm>
            <a:off x="1051560" y="1325880"/>
            <a:ext cx="548640" cy="548640"/>
          </a:xfrm>
          <a:prstGeom prst="ellipse">
            <a:avLst/>
          </a:prstGeom>
          <a:solidFill>
            <a:srgbClr val="123B5C"/>
          </a:solidFill>
          <a:ln w="12700">
            <a:solidFill>
              <a:srgbClr val="123B5C"/>
            </a:solidFill>
            <a:prstDash val="solid"/>
          </a:ln>
        </p:spPr>
      </p:sp>
      <p:pic>
        <p:nvPicPr>
          <p:cNvPr id="5" name="icon file" descr="icon 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206" y="14685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You give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86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PDF document (and an image)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2258568" y="192024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flow The system"/>
          <p:cNvSpPr/>
          <p:nvPr/>
        </p:nvSpPr>
        <p:spPr>
          <a:xfrm>
            <a:off x="2606040" y="1188720"/>
            <a:ext cx="17373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gear bg"/>
          <p:cNvSpPr/>
          <p:nvPr/>
        </p:nvSpPr>
        <p:spPr>
          <a:xfrm>
            <a:off x="3200400" y="13258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1" name="icon gear" descr="icon ge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046" y="14685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9748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system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2286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Reads, splits and stores it as searchable data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4407408" y="192024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flow You ask"/>
          <p:cNvSpPr/>
          <p:nvPr/>
        </p:nvSpPr>
        <p:spPr>
          <a:xfrm>
            <a:off x="4754880" y="1188720"/>
            <a:ext cx="17373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 chat bg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123B5C"/>
          </a:solidFill>
          <a:ln w="12700">
            <a:solidFill>
              <a:srgbClr val="123B5C"/>
            </a:solidFill>
            <a:prstDash val="solid"/>
          </a:ln>
        </p:spPr>
      </p:sp>
      <p:pic>
        <p:nvPicPr>
          <p:cNvPr id="17" name="icon chat" descr="icon ch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886" y="146852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632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You ask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2286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question in plain English</a:t>
            </a:r>
            <a:endParaRPr lang="en-US" sz="1400" dirty="0"/>
          </a:p>
        </p:txBody>
      </p:sp>
      <p:sp>
        <p:nvSpPr>
          <p:cNvPr id="20" name="arrow"/>
          <p:cNvSpPr/>
          <p:nvPr/>
        </p:nvSpPr>
        <p:spPr>
          <a:xfrm>
            <a:off x="6556248" y="192024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flow You get"/>
          <p:cNvSpPr/>
          <p:nvPr/>
        </p:nvSpPr>
        <p:spPr>
          <a:xfrm>
            <a:off x="6903720" y="1188720"/>
            <a:ext cx="17373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icon check bg"/>
          <p:cNvSpPr/>
          <p:nvPr/>
        </p:nvSpPr>
        <p:spPr>
          <a:xfrm>
            <a:off x="7498080" y="132588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3" name="icon check" descr="icon 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726" y="1468526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9516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You get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995160" y="22860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most relevant passages back</a:t>
            </a:r>
            <a:endParaRPr lang="en-US" sz="1400" dirty="0"/>
          </a:p>
        </p:txBody>
      </p:sp>
      <p:sp>
        <p:nvSpPr>
          <p:cNvPr id="26" name="goals"/>
          <p:cNvSpPr/>
          <p:nvPr/>
        </p:nvSpPr>
        <p:spPr>
          <a:xfrm>
            <a:off x="457200" y="3200400"/>
            <a:ext cx="822960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68580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Goals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685800" y="36576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Answer from your own documents, not from guesses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Run locally with free, open-source tools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Prepare the ground for text + image (multimodal) search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Tools used, in plain English</a:t>
            </a:r>
            <a:endParaRPr lang="en-US" sz="3000" dirty="0"/>
          </a:p>
        </p:txBody>
      </p:sp>
      <p:sp>
        <p:nvSpPr>
          <p:cNvPr id="3" name="tech Python"/>
          <p:cNvSpPr/>
          <p:nvPr/>
        </p:nvSpPr>
        <p:spPr>
          <a:xfrm>
            <a:off x="45720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python bg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123B5C"/>
          </a:solidFill>
          <a:ln w="12700">
            <a:solidFill>
              <a:srgbClr val="123B5C"/>
            </a:solidFill>
            <a:prstDash val="solid"/>
          </a:ln>
        </p:spPr>
      </p:sp>
      <p:pic>
        <p:nvPicPr>
          <p:cNvPr id="5" name="icon python" descr="icon pyth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45663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Python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language the project is written in</a:t>
            </a:r>
            <a:endParaRPr lang="en-US" sz="1400" dirty="0"/>
          </a:p>
        </p:txBody>
      </p:sp>
      <p:sp>
        <p:nvSpPr>
          <p:cNvPr id="8" name="tech LangChain"/>
          <p:cNvSpPr/>
          <p:nvPr/>
        </p:nvSpPr>
        <p:spPr>
          <a:xfrm>
            <a:off x="324612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link bg"/>
          <p:cNvSpPr/>
          <p:nvPr/>
        </p:nvSpPr>
        <p:spPr>
          <a:xfrm>
            <a:off x="3429000" y="1325880"/>
            <a:ext cx="502920" cy="502920"/>
          </a:xfrm>
          <a:prstGeom prst="ellipse">
            <a:avLst/>
          </a:prstGeom>
          <a:solidFill>
            <a:srgbClr val="123B5C"/>
          </a:solidFill>
          <a:ln w="12700">
            <a:solidFill>
              <a:srgbClr val="123B5C"/>
            </a:solidFill>
            <a:prstDash val="solid"/>
          </a:ln>
        </p:spPr>
      </p:sp>
      <p:pic>
        <p:nvPicPr>
          <p:cNvPr id="10" name="icon link" descr="icon lin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759" y="145663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LangChain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Ready-made parts for loading and splitting text</a:t>
            </a:r>
            <a:endParaRPr lang="en-US" sz="1400" dirty="0"/>
          </a:p>
        </p:txBody>
      </p:sp>
      <p:sp>
        <p:nvSpPr>
          <p:cNvPr id="13" name="tech ChromaDB"/>
          <p:cNvSpPr/>
          <p:nvPr/>
        </p:nvSpPr>
        <p:spPr>
          <a:xfrm>
            <a:off x="603504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db bg"/>
          <p:cNvSpPr/>
          <p:nvPr/>
        </p:nvSpPr>
        <p:spPr>
          <a:xfrm>
            <a:off x="6217920" y="1325880"/>
            <a:ext cx="502920" cy="502920"/>
          </a:xfrm>
          <a:prstGeom prst="ellipse">
            <a:avLst/>
          </a:prstGeom>
          <a:solidFill>
            <a:srgbClr val="123B5C"/>
          </a:solidFill>
          <a:ln w="12700">
            <a:solidFill>
              <a:srgbClr val="123B5C"/>
            </a:solidFill>
            <a:prstDash val="solid"/>
          </a:ln>
        </p:spPr>
      </p:sp>
      <p:pic>
        <p:nvPicPr>
          <p:cNvPr id="15" name="icon db" descr="icon d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679" y="145663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3258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ChromaDB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Stores the searchable data on disk</a:t>
            </a:r>
            <a:endParaRPr lang="en-US" sz="1400" dirty="0"/>
          </a:p>
        </p:txBody>
      </p:sp>
      <p:sp>
        <p:nvSpPr>
          <p:cNvPr id="18" name="tech HuggingFace MiniLM"/>
          <p:cNvSpPr/>
          <p:nvPr/>
        </p:nvSpPr>
        <p:spPr>
          <a:xfrm>
            <a:off x="45720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 brain bg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123B5C"/>
          </a:solidFill>
          <a:ln w="12700">
            <a:solidFill>
              <a:srgbClr val="123B5C"/>
            </a:solidFill>
            <a:prstDash val="solid"/>
          </a:ln>
        </p:spPr>
      </p:sp>
      <p:pic>
        <p:nvPicPr>
          <p:cNvPr id="20" name="icon brain" descr="icon bra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39" y="3239719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108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HuggingFace MiniLM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749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Turns sentences into numbers that capture meaning</a:t>
            </a:r>
            <a:endParaRPr lang="en-US" sz="1400" dirty="0"/>
          </a:p>
        </p:txBody>
      </p:sp>
      <p:sp>
        <p:nvSpPr>
          <p:cNvPr id="23" name="tech PyPDF"/>
          <p:cNvSpPr/>
          <p:nvPr/>
        </p:nvSpPr>
        <p:spPr>
          <a:xfrm>
            <a:off x="324612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 file bg"/>
          <p:cNvSpPr/>
          <p:nvPr/>
        </p:nvSpPr>
        <p:spPr>
          <a:xfrm>
            <a:off x="3429000" y="3108960"/>
            <a:ext cx="502920" cy="502920"/>
          </a:xfrm>
          <a:prstGeom prst="ellipse">
            <a:avLst/>
          </a:prstGeom>
          <a:solidFill>
            <a:srgbClr val="123B5C"/>
          </a:solidFill>
          <a:ln w="12700">
            <a:solidFill>
              <a:srgbClr val="123B5C"/>
            </a:solidFill>
            <a:prstDash val="solid"/>
          </a:ln>
        </p:spPr>
      </p:sp>
      <p:pic>
        <p:nvPicPr>
          <p:cNvPr id="25" name="icon file" descr="icon fi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759" y="3239719"/>
            <a:ext cx="241402" cy="2414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69080" y="3108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PyPDF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749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Reads the text inside PDF files</a:t>
            </a:r>
            <a:endParaRPr lang="en-US" sz="1400" dirty="0"/>
          </a:p>
        </p:txBody>
      </p:sp>
      <p:sp>
        <p:nvSpPr>
          <p:cNvPr id="28" name="tech Pillow"/>
          <p:cNvSpPr/>
          <p:nvPr/>
        </p:nvSpPr>
        <p:spPr>
          <a:xfrm>
            <a:off x="603504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 camera bg"/>
          <p:cNvSpPr/>
          <p:nvPr/>
        </p:nvSpPr>
        <p:spPr>
          <a:xfrm>
            <a:off x="6217920" y="3108960"/>
            <a:ext cx="502920" cy="502920"/>
          </a:xfrm>
          <a:prstGeom prst="ellipse">
            <a:avLst/>
          </a:prstGeom>
          <a:solidFill>
            <a:srgbClr val="123B5C"/>
          </a:solidFill>
          <a:ln w="12700">
            <a:solidFill>
              <a:srgbClr val="123B5C"/>
            </a:solidFill>
            <a:prstDash val="solid"/>
          </a:ln>
        </p:spPr>
      </p:sp>
      <p:pic>
        <p:nvPicPr>
          <p:cNvPr id="30" name="icon camera" descr="icon camer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679" y="3239719"/>
            <a:ext cx="241402" cy="2414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31089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Pillow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749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Opens and checks image files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the parts connect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STEP A: BUILD THE KNOWLEDGE BASE  (app.py, run once)</a:t>
            </a:r>
            <a:endParaRPr lang="en-US" sz="1200" dirty="0"/>
          </a:p>
        </p:txBody>
      </p:sp>
      <p:sp>
        <p:nvSpPr>
          <p:cNvPr id="4" name="arch 00"/>
          <p:cNvSpPr/>
          <p:nvPr/>
        </p:nvSpPr>
        <p:spPr>
          <a:xfrm>
            <a:off x="457200" y="1325880"/>
            <a:ext cx="1737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arch 00 bg"/>
          <p:cNvSpPr/>
          <p:nvPr/>
        </p:nvSpPr>
        <p:spPr>
          <a:xfrm>
            <a:off x="1097280" y="1435608"/>
            <a:ext cx="457200" cy="457200"/>
          </a:xfrm>
          <a:prstGeom prst="ellipse">
            <a:avLst/>
          </a:prstGeom>
          <a:solidFill>
            <a:srgbClr val="123B5C"/>
          </a:solidFill>
          <a:ln w="12700">
            <a:solidFill>
              <a:srgbClr val="123B5C"/>
            </a:solidFill>
            <a:prstDash val="solid"/>
          </a:ln>
        </p:spPr>
      </p:sp>
      <p:pic>
        <p:nvPicPr>
          <p:cNvPr id="6" name="icon arch 00" descr="icon arch 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155448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1965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PDF in data/ folder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2258568" y="178308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arch 01"/>
          <p:cNvSpPr/>
          <p:nvPr/>
        </p:nvSpPr>
        <p:spPr>
          <a:xfrm>
            <a:off x="2606040" y="1325880"/>
            <a:ext cx="1737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arch 01 bg"/>
          <p:cNvSpPr/>
          <p:nvPr/>
        </p:nvSpPr>
        <p:spPr>
          <a:xfrm>
            <a:off x="3246120" y="1435608"/>
            <a:ext cx="457200" cy="457200"/>
          </a:xfrm>
          <a:prstGeom prst="ellipse">
            <a:avLst/>
          </a:prstGeom>
          <a:solidFill>
            <a:srgbClr val="123B5C"/>
          </a:solidFill>
          <a:ln w="12700">
            <a:solidFill>
              <a:srgbClr val="123B5C"/>
            </a:solidFill>
            <a:prstDash val="solid"/>
          </a:ln>
        </p:spPr>
      </p:sp>
      <p:pic>
        <p:nvPicPr>
          <p:cNvPr id="11" name="icon arch 01" descr="icon arch 0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55448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97480" y="1965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Split into small chunks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4407408" y="178308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arch 02"/>
          <p:cNvSpPr/>
          <p:nvPr/>
        </p:nvSpPr>
        <p:spPr>
          <a:xfrm>
            <a:off x="4754880" y="1325880"/>
            <a:ext cx="1737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 arch 02 bg"/>
          <p:cNvSpPr/>
          <p:nvPr/>
        </p:nvSpPr>
        <p:spPr>
          <a:xfrm>
            <a:off x="5394960" y="1435608"/>
            <a:ext cx="457200" cy="457200"/>
          </a:xfrm>
          <a:prstGeom prst="ellipse">
            <a:avLst/>
          </a:prstGeom>
          <a:solidFill>
            <a:srgbClr val="123B5C"/>
          </a:solidFill>
          <a:ln w="12700">
            <a:solidFill>
              <a:srgbClr val="123B5C"/>
            </a:solidFill>
            <a:prstDash val="solid"/>
          </a:ln>
        </p:spPr>
      </p:sp>
      <p:pic>
        <p:nvPicPr>
          <p:cNvPr id="16" name="icon arch 02" descr="icon arch 0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155448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46320" y="1965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Convert to vectors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6556248" y="178308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arch 03"/>
          <p:cNvSpPr/>
          <p:nvPr/>
        </p:nvSpPr>
        <p:spPr>
          <a:xfrm>
            <a:off x="6903720" y="1325880"/>
            <a:ext cx="1737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 arch 03 bg"/>
          <p:cNvSpPr/>
          <p:nvPr/>
        </p:nvSpPr>
        <p:spPr>
          <a:xfrm>
            <a:off x="7543800" y="1435608"/>
            <a:ext cx="457200" cy="457200"/>
          </a:xfrm>
          <a:prstGeom prst="ellipse">
            <a:avLst/>
          </a:prstGeom>
          <a:solidFill>
            <a:srgbClr val="123B5C"/>
          </a:solidFill>
          <a:ln w="12700">
            <a:solidFill>
              <a:srgbClr val="123B5C"/>
            </a:solidFill>
            <a:prstDash val="solid"/>
          </a:ln>
        </p:spPr>
      </p:sp>
      <p:pic>
        <p:nvPicPr>
          <p:cNvPr id="21" name="icon arch 03" descr="icon arch 0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155448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95160" y="1965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Save in ChromaDB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STEP B: ASK QUESTIONS  (chat.py, any time)</a:t>
            </a:r>
            <a:endParaRPr lang="en-US" sz="1200" dirty="0"/>
          </a:p>
        </p:txBody>
      </p:sp>
      <p:sp>
        <p:nvSpPr>
          <p:cNvPr id="24" name="arch 10"/>
          <p:cNvSpPr/>
          <p:nvPr/>
        </p:nvSpPr>
        <p:spPr>
          <a:xfrm>
            <a:off x="457200" y="3017520"/>
            <a:ext cx="1737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on arch 10 bg"/>
          <p:cNvSpPr/>
          <p:nvPr/>
        </p:nvSpPr>
        <p:spPr>
          <a:xfrm>
            <a:off x="1097280" y="3127248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6" name="icon arch 10" descr="icon arch 10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152" y="324612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48640" y="3657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You type a question</a:t>
            </a:r>
            <a:endParaRPr lang="en-US" sz="1400" dirty="0"/>
          </a:p>
        </p:txBody>
      </p:sp>
      <p:sp>
        <p:nvSpPr>
          <p:cNvPr id="28" name="arrow"/>
          <p:cNvSpPr/>
          <p:nvPr/>
        </p:nvSpPr>
        <p:spPr>
          <a:xfrm>
            <a:off x="2258568" y="347472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arch 11"/>
          <p:cNvSpPr/>
          <p:nvPr/>
        </p:nvSpPr>
        <p:spPr>
          <a:xfrm>
            <a:off x="2606040" y="3017520"/>
            <a:ext cx="1737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icon arch 11 bg"/>
          <p:cNvSpPr/>
          <p:nvPr/>
        </p:nvSpPr>
        <p:spPr>
          <a:xfrm>
            <a:off x="3246120" y="3127248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1" name="icon arch 11" descr="icon arch 11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324612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2697480" y="3657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Convert to a vector</a:t>
            </a:r>
            <a:endParaRPr lang="en-US" sz="1400" dirty="0"/>
          </a:p>
        </p:txBody>
      </p:sp>
      <p:sp>
        <p:nvSpPr>
          <p:cNvPr id="33" name="arrow"/>
          <p:cNvSpPr/>
          <p:nvPr/>
        </p:nvSpPr>
        <p:spPr>
          <a:xfrm>
            <a:off x="4407408" y="347472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arch 12"/>
          <p:cNvSpPr/>
          <p:nvPr/>
        </p:nvSpPr>
        <p:spPr>
          <a:xfrm>
            <a:off x="4754880" y="3017520"/>
            <a:ext cx="1737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icon arch 12 bg"/>
          <p:cNvSpPr/>
          <p:nvPr/>
        </p:nvSpPr>
        <p:spPr>
          <a:xfrm>
            <a:off x="5394960" y="3127248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6" name="icon arch 12" descr="icon arch 12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3832" y="3246120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4846320" y="3657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Find closest chunks</a:t>
            </a:r>
            <a:endParaRPr lang="en-US" sz="1400" dirty="0"/>
          </a:p>
        </p:txBody>
      </p:sp>
      <p:sp>
        <p:nvSpPr>
          <p:cNvPr id="38" name="arrow"/>
          <p:cNvSpPr/>
          <p:nvPr/>
        </p:nvSpPr>
        <p:spPr>
          <a:xfrm>
            <a:off x="6556248" y="347472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9" name="arch 13"/>
          <p:cNvSpPr/>
          <p:nvPr/>
        </p:nvSpPr>
        <p:spPr>
          <a:xfrm>
            <a:off x="6903720" y="3017520"/>
            <a:ext cx="1737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icon arch 13 bg"/>
          <p:cNvSpPr/>
          <p:nvPr/>
        </p:nvSpPr>
        <p:spPr>
          <a:xfrm>
            <a:off x="7543800" y="3127248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1" name="icon arch 13" descr="icon arch 13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2672" y="3246120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995160" y="3657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Show top 2 passages</a:t>
            </a:r>
            <a:endParaRPr lang="en-US" sz="1400" dirty="0"/>
          </a:p>
        </p:txBody>
      </p:sp>
      <p:sp>
        <p:nvSpPr>
          <p:cNvPr id="43" name="Text 33"/>
          <p:cNvSpPr txBox="1"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Both steps use the same ChromaDB store and the same embedding model, so questions and documents can be compared fairly.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Three ideas that make it work</a:t>
            </a:r>
            <a:endParaRPr lang="en-US" sz="3000" dirty="0"/>
          </a:p>
        </p:txBody>
      </p:sp>
      <p:sp>
        <p:nvSpPr>
          <p:cNvPr id="3" name="icon cut bg"/>
          <p:cNvSpPr/>
          <p:nvPr/>
        </p:nvSpPr>
        <p:spPr>
          <a:xfrm>
            <a:off x="457200" y="1234440"/>
            <a:ext cx="594360" cy="5943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4" name="icon cut" descr="icon c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734" y="1388974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4904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small piece of text, like a paragraph. Chunks overlap by 50 characters so no sentence is cut.</a:t>
            </a:r>
            <a:endParaRPr lang="en-US" sz="1400" dirty="0"/>
          </a:p>
        </p:txBody>
      </p:sp>
      <p:sp>
        <p:nvSpPr>
          <p:cNvPr id="7" name="icon map bg"/>
          <p:cNvSpPr/>
          <p:nvPr/>
        </p:nvSpPr>
        <p:spPr>
          <a:xfrm>
            <a:off x="457200" y="2377440"/>
            <a:ext cx="594360" cy="5943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con map" descr="icon m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734" y="2531974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286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26334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Meaning as numbers, like GPS coordinates for meaning. Similar sentences land close together.</a:t>
            </a:r>
            <a:endParaRPr lang="en-US" sz="1400" dirty="0"/>
          </a:p>
        </p:txBody>
      </p:sp>
      <p:sp>
        <p:nvSpPr>
          <p:cNvPr id="11" name="icon book bg"/>
          <p:cNvSpPr/>
          <p:nvPr/>
        </p:nvSpPr>
        <p:spPr>
          <a:xfrm>
            <a:off x="457200" y="3520440"/>
            <a:ext cx="594360" cy="5943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2" name="icon book" descr="icon boo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4" y="367497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429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database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37764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library catalogue that searches by meaning, not exact words.</a:t>
            </a:r>
            <a:endParaRPr lang="en-US" sz="1400" dirty="0"/>
          </a:p>
        </p:txBody>
      </p:sp>
      <p:sp>
        <p:nvSpPr>
          <p:cNvPr id="15" name="map card"/>
          <p:cNvSpPr/>
          <p:nvPr/>
        </p:nvSpPr>
        <p:spPr>
          <a:xfrm>
            <a:off x="4480560" y="1143000"/>
            <a:ext cx="420624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6" name="Map showing similar sentences close together and unrelated ones far apart" descr="Map showing similar sentences close together and unrelated ones far apa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090" y="1280160"/>
            <a:ext cx="3873180" cy="2743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572000" y="4160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Illustrative 2D map: similar meaning = nearby points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Step A in detail: app.py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457200" y="121615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16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1612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Check the file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7218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Stops with a clear error if data/sample.pdf is missing.</a:t>
            </a:r>
            <a:endParaRPr lang="en-US" sz="1400" dirty="0"/>
          </a:p>
        </p:txBody>
      </p:sp>
      <p:sp>
        <p:nvSpPr>
          <p:cNvPr id="7" name="step 2"/>
          <p:cNvSpPr/>
          <p:nvPr/>
        </p:nvSpPr>
        <p:spPr>
          <a:xfrm>
            <a:off x="457200" y="2103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04825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Load the PDF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359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PyPDFLoader reads every page.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457200" y="299008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9352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Split into chunks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246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500 characters each, 50 overlapping.</a:t>
            </a:r>
            <a:endParaRPr lang="en-US" sz="1400" dirty="0"/>
          </a:p>
        </p:txBody>
      </p:sp>
      <p:sp>
        <p:nvSpPr>
          <p:cNvPr id="15" name="step 4"/>
          <p:cNvSpPr/>
          <p:nvPr/>
        </p:nvSpPr>
        <p:spPr>
          <a:xfrm>
            <a:off x="457200" y="387705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877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822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Embed and save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133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MiniLM makes vectors; Chroma saves them in ./db.</a:t>
            </a:r>
            <a:endParaRPr lang="en-US" sz="1400" dirty="0"/>
          </a:p>
        </p:txBody>
      </p:sp>
      <p:pic>
        <p:nvPicPr>
          <p:cNvPr id="19" name="Key lines of app.py" descr="Key lines of app.p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88720"/>
            <a:ext cx="4114800" cy="2158867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480560" y="3439027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Key lines from app.py (line breaks added for readability)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Step B in detail: chat.py</a:t>
            </a:r>
            <a:endParaRPr lang="en-US" sz="3000" dirty="0"/>
          </a:p>
        </p:txBody>
      </p:sp>
      <p:sp>
        <p:nvSpPr>
          <p:cNvPr id="3" name="chip Load database"/>
          <p:cNvSpPr/>
          <p:nvPr/>
        </p:nvSpPr>
        <p:spPr>
          <a:xfrm>
            <a:off x="457200" y="105156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 0"/>
          <p:cNvSpPr/>
          <p:nvPr/>
        </p:nvSpPr>
        <p:spPr>
          <a:xfrm>
            <a:off x="594360" y="12344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0515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Load database</a:t>
            </a:r>
            <a:endParaRPr lang="en-US" sz="1400" dirty="0"/>
          </a:p>
        </p:txBody>
      </p:sp>
      <p:sp>
        <p:nvSpPr>
          <p:cNvPr id="7" name="chip You ask"/>
          <p:cNvSpPr/>
          <p:nvPr/>
        </p:nvSpPr>
        <p:spPr>
          <a:xfrm>
            <a:off x="2560320" y="105156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um 1"/>
          <p:cNvSpPr/>
          <p:nvPr/>
        </p:nvSpPr>
        <p:spPr>
          <a:xfrm>
            <a:off x="2697480" y="12344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10515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You ask</a:t>
            </a:r>
            <a:endParaRPr lang="en-US" sz="1400" dirty="0"/>
          </a:p>
        </p:txBody>
      </p:sp>
      <p:sp>
        <p:nvSpPr>
          <p:cNvPr id="11" name="chip Find top 2 chunks"/>
          <p:cNvSpPr/>
          <p:nvPr/>
        </p:nvSpPr>
        <p:spPr>
          <a:xfrm>
            <a:off x="4663440" y="105156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um 2"/>
          <p:cNvSpPr/>
          <p:nvPr/>
        </p:nvSpPr>
        <p:spPr>
          <a:xfrm>
            <a:off x="4800600" y="12344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10515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Find top 2 chunks</a:t>
            </a:r>
            <a:endParaRPr lang="en-US" sz="1400" dirty="0"/>
          </a:p>
        </p:txBody>
      </p:sp>
      <p:sp>
        <p:nvSpPr>
          <p:cNvPr id="15" name="chip Show context"/>
          <p:cNvSpPr/>
          <p:nvPr/>
        </p:nvSpPr>
        <p:spPr>
          <a:xfrm>
            <a:off x="6766560" y="1051560"/>
            <a:ext cx="1920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um 3"/>
          <p:cNvSpPr/>
          <p:nvPr/>
        </p:nvSpPr>
        <p:spPr>
          <a:xfrm>
            <a:off x="6903720" y="123444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10515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Show context</a:t>
            </a:r>
            <a:endParaRPr lang="en-US" sz="1400" dirty="0"/>
          </a:p>
        </p:txBody>
      </p:sp>
      <p:pic>
        <p:nvPicPr>
          <p:cNvPr id="19" name="Key lines of chat.py" descr="Key lines of chat.p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0"/>
            <a:ext cx="4206240" cy="2249326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457200" y="435244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Key lines from chat.py (line breaks added)</a:t>
            </a:r>
            <a:endParaRPr lang="en-US" sz="1200" dirty="0"/>
          </a:p>
        </p:txBody>
      </p:sp>
      <p:pic>
        <p:nvPicPr>
          <p:cNvPr id="21" name="Example chat session output" descr="Example chat session outpu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011680"/>
            <a:ext cx="3749040" cy="134075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937760" y="344387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Illustrative output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multimodal part: images (multimodal.py)</a:t>
            </a:r>
            <a:endParaRPr lang="en-US" sz="3000" dirty="0"/>
          </a:p>
        </p:txBody>
      </p:sp>
      <p:sp>
        <p:nvSpPr>
          <p:cNvPr id="3" name="mm 0"/>
          <p:cNvSpPr/>
          <p:nvPr/>
        </p:nvSpPr>
        <p:spPr>
          <a:xfrm>
            <a:off x="457200" y="1097280"/>
            <a:ext cx="1737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mm 0 bg"/>
          <p:cNvSpPr/>
          <p:nvPr/>
        </p:nvSpPr>
        <p:spPr>
          <a:xfrm>
            <a:off x="1097280" y="11887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" name="icon mm 0" descr="icon mm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130759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190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Image file</a:t>
            </a:r>
            <a:endParaRPr lang="en-US" sz="1400" dirty="0"/>
          </a:p>
        </p:txBody>
      </p:sp>
      <p:sp>
        <p:nvSpPr>
          <p:cNvPr id="7" name="arrow"/>
          <p:cNvSpPr/>
          <p:nvPr/>
        </p:nvSpPr>
        <p:spPr>
          <a:xfrm>
            <a:off x="2258568" y="155448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mm 1"/>
          <p:cNvSpPr/>
          <p:nvPr/>
        </p:nvSpPr>
        <p:spPr>
          <a:xfrm>
            <a:off x="2606040" y="1097280"/>
            <a:ext cx="1737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mm 1 bg"/>
          <p:cNvSpPr/>
          <p:nvPr/>
        </p:nvSpPr>
        <p:spPr>
          <a:xfrm>
            <a:off x="3246120" y="11887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0" name="icon mm 1" descr="icon mm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30759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97480" y="17190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Pillow opens it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4407408" y="155448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mm 2"/>
          <p:cNvSpPr/>
          <p:nvPr/>
        </p:nvSpPr>
        <p:spPr>
          <a:xfrm>
            <a:off x="4754880" y="1097280"/>
            <a:ext cx="1737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mm 2 bg"/>
          <p:cNvSpPr/>
          <p:nvPr/>
        </p:nvSpPr>
        <p:spPr>
          <a:xfrm>
            <a:off x="5394960" y="11887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5" name="icon mm 2" descr="icon mm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32" y="130759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46320" y="17190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Reads format, size, mode</a:t>
            </a:r>
            <a:endParaRPr lang="en-US" sz="1400" dirty="0"/>
          </a:p>
        </p:txBody>
      </p:sp>
      <p:sp>
        <p:nvSpPr>
          <p:cNvPr id="17" name="arrow"/>
          <p:cNvSpPr/>
          <p:nvPr/>
        </p:nvSpPr>
        <p:spPr>
          <a:xfrm>
            <a:off x="6556248" y="1554480"/>
            <a:ext cx="274320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mm 3"/>
          <p:cNvSpPr/>
          <p:nvPr/>
        </p:nvSpPr>
        <p:spPr>
          <a:xfrm>
            <a:off x="6903720" y="1097280"/>
            <a:ext cx="1737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 mm 3 bg"/>
          <p:cNvSpPr/>
          <p:nvPr/>
        </p:nvSpPr>
        <p:spPr>
          <a:xfrm>
            <a:off x="7543800" y="1188720"/>
            <a:ext cx="457200" cy="4572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0" name="icon mm 3" descr="icon mm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130759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95160" y="17190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Check passed</a:t>
            </a:r>
            <a:endParaRPr lang="en-US" sz="1400" dirty="0"/>
          </a:p>
        </p:txBody>
      </p:sp>
      <p:pic>
        <p:nvPicPr>
          <p:cNvPr id="22" name="Key lines of multimodal.py" descr="Key lines of multimodal.p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06040"/>
            <a:ext cx="4023360" cy="99065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57200" y="3688133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Key lines from multimodal.py</a:t>
            </a:r>
            <a:endParaRPr lang="en-US" sz="1200" dirty="0"/>
          </a:p>
        </p:txBody>
      </p:sp>
      <p:pic>
        <p:nvPicPr>
          <p:cNvPr id="24" name="Example image" descr="Example imag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2606040"/>
            <a:ext cx="1920240" cy="14401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709160" y="41376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Example image</a:t>
            </a:r>
            <a:endParaRPr lang="en-US" sz="1200" dirty="0"/>
          </a:p>
        </p:txBody>
      </p:sp>
      <p:sp>
        <p:nvSpPr>
          <p:cNvPr id="26" name="next step"/>
          <p:cNvSpPr/>
          <p:nvPr/>
        </p:nvSpPr>
        <p:spPr>
          <a:xfrm>
            <a:off x="6812280" y="2606040"/>
            <a:ext cx="1874520" cy="1920240"/>
          </a:xfrm>
          <a:prstGeom prst="roundRect">
            <a:avLst>
              <a:gd name="adj" fmla="val 390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694944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Next step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6949440" y="301752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Turn image content into searchable text, so a question can also find pictures.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Project files and how to run</a:t>
            </a:r>
            <a:endParaRPr lang="en-US" sz="3000" dirty="0"/>
          </a:p>
        </p:txBody>
      </p:sp>
      <p:sp>
        <p:nvSpPr>
          <p:cNvPr id="3" name="file tree"/>
          <p:cNvSpPr/>
          <p:nvPr/>
        </p:nvSpPr>
        <p:spPr>
          <a:xfrm>
            <a:off x="457200" y="1143000"/>
            <a:ext cx="4206240" cy="342900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        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knowledge base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chat.py       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interactive chat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query.py      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test question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multimodal.py 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check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make_pdf.py   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data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  db/     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input, saved index</a:t>
            </a:r>
            <a:endParaRPr lang="en-US" sz="1200" dirty="0"/>
          </a:p>
        </p:txBody>
      </p:sp>
      <p:sp>
        <p:nvSpPr>
          <p:cNvPr id="5" name="cmd Install"/>
          <p:cNvSpPr/>
          <p:nvPr/>
        </p:nvSpPr>
        <p:spPr>
          <a:xfrm>
            <a:off x="4937760" y="1143000"/>
            <a:ext cx="37490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2064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INSTALL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400" dirty="0"/>
          </a:p>
        </p:txBody>
      </p:sp>
      <p:sp>
        <p:nvSpPr>
          <p:cNvPr id="8" name="cmd Build"/>
          <p:cNvSpPr/>
          <p:nvPr/>
        </p:nvSpPr>
        <p:spPr>
          <a:xfrm>
            <a:off x="4937760" y="2194560"/>
            <a:ext cx="37490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2064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BUILD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</a:t>
            </a:r>
            <a:endParaRPr lang="en-US" sz="1400" dirty="0"/>
          </a:p>
        </p:txBody>
      </p:sp>
      <p:sp>
        <p:nvSpPr>
          <p:cNvPr id="11" name="cmd Chat"/>
          <p:cNvSpPr/>
          <p:nvPr/>
        </p:nvSpPr>
        <p:spPr>
          <a:xfrm>
            <a:off x="4937760" y="3246120"/>
            <a:ext cx="37490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3337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CHAT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3657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chat.py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4251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Put your PDF in data/, run the commands in order.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Learnings and what comes next</a:t>
            </a:r>
            <a:endParaRPr lang="en-US" sz="3000" dirty="0"/>
          </a:p>
        </p:txBody>
      </p:sp>
      <p:sp>
        <p:nvSpPr>
          <p:cNvPr id="3" name="learnings"/>
          <p:cNvSpPr/>
          <p:nvPr/>
        </p:nvSpPr>
        <p:spPr>
          <a:xfrm>
            <a:off x="457200" y="1097280"/>
            <a:ext cx="3977640" cy="2514600"/>
          </a:xfrm>
          <a:prstGeom prst="roundRect">
            <a:avLst>
              <a:gd name="adj" fmla="val 2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 learned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How RAG grounds answers in documents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How text becomes searchable vectors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Building an end-to-end AI pipeline</a:t>
            </a:r>
            <a:endParaRPr lang="en-US" sz="1400" dirty="0"/>
          </a:p>
        </p:txBody>
      </p:sp>
      <p:sp>
        <p:nvSpPr>
          <p:cNvPr id="6" name="future"/>
          <p:cNvSpPr/>
          <p:nvPr/>
        </p:nvSpPr>
        <p:spPr>
          <a:xfrm>
            <a:off x="4709160" y="1097280"/>
            <a:ext cx="3977640" cy="2514600"/>
          </a:xfrm>
          <a:prstGeom prst="roundRect">
            <a:avLst>
              <a:gd name="adj" fmla="val 2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459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Add a language model to write answers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Make images searchable by content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Support many PDFs and show sources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 simple web app for everyone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Mansi Suresh Shirode  |  Volunteer  |  Mentor: Abhishek Kumar Shukla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G Deep Teal">
  <a:themeElements>
    <a:clrScheme name="RAG Deep Teal">
      <a:dk1>
        <a:srgbClr val="0B1F3A"/>
      </a:dk1>
      <a:lt1>
        <a:srgbClr val="FFFFFF"/>
      </a:lt1>
      <a:dk2>
        <a:srgbClr val="123B5C"/>
      </a:dk2>
      <a:lt2>
        <a:srgbClr val="EAF3F6"/>
      </a:lt2>
      <a:accent1>
        <a:srgbClr val="14B8A6"/>
      </a:accent1>
      <a:accent2>
        <a:srgbClr val="F5A524"/>
      </a:accent2>
      <a:accent3>
        <a:srgbClr val="1E6091"/>
      </a:accent3>
      <a:accent4>
        <a:srgbClr val="64748B"/>
      </a:accent4>
      <a:accent5>
        <a:srgbClr val="0F766E"/>
      </a:accent5>
      <a:accent6>
        <a:srgbClr val="E11D48"/>
      </a:accent6>
      <a:hlink>
        <a:srgbClr val="14B8A6"/>
      </a:hlink>
      <a:folHlink>
        <a:srgbClr val="64748B"/>
      </a:folHlink>
    </a:clrScheme>
    <a:fontScheme name="RAG Deep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RAG Chatbot - Internship Project</dc:title>
  <dc:subject>PptxGenJS Presentation</dc:subject>
  <dc:creator>Mansi Suresh Shirode</dc:creator>
  <cp:lastModifiedBy>Mansi Suresh Shirode</cp:lastModifiedBy>
  <cp:revision>1</cp:revision>
  <dcterms:created xsi:type="dcterms:W3CDTF">2026-10-10T10:12:33Z</dcterms:created>
  <dcterms:modified xsi:type="dcterms:W3CDTF">2026-10-10T10:12:33Z</dcterms:modified>
</cp:coreProperties>
</file>